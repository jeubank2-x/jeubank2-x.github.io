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4" r:id="rId9"/>
    <p:sldId id="265" r:id="rId10"/>
    <p:sldId id="266"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5D68A0-3E32-4730-8503-9240D5BC9D3A}" v="1" dt="2025-11-17T15:36:09.8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0890" autoAdjust="0"/>
  </p:normalViewPr>
  <p:slideViewPr>
    <p:cSldViewPr snapToGrid="0">
      <p:cViewPr varScale="1">
        <p:scale>
          <a:sx n="58" d="100"/>
          <a:sy n="58" d="100"/>
        </p:scale>
        <p:origin x="136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bank, Jason" userId="054f2d21-023f-49ba-8683-acb5e24870ca" providerId="ADAL" clId="{CA94579A-8811-47FE-851D-B810B9828178}"/>
    <pc:docChg chg="modSld">
      <pc:chgData name="Eubank, Jason" userId="054f2d21-023f-49ba-8683-acb5e24870ca" providerId="ADAL" clId="{CA94579A-8811-47FE-851D-B810B9828178}" dt="2025-11-17T15:36:27.171" v="18" actId="2711"/>
      <pc:docMkLst>
        <pc:docMk/>
      </pc:docMkLst>
      <pc:sldChg chg="modSp mod">
        <pc:chgData name="Eubank, Jason" userId="054f2d21-023f-49ba-8683-acb5e24870ca" providerId="ADAL" clId="{CA94579A-8811-47FE-851D-B810B9828178}" dt="2025-11-17T15:36:27.171" v="18" actId="2711"/>
        <pc:sldMkLst>
          <pc:docMk/>
          <pc:sldMk cId="4224026095" sldId="256"/>
        </pc:sldMkLst>
        <pc:spChg chg="mod">
          <ac:chgData name="Eubank, Jason" userId="054f2d21-023f-49ba-8683-acb5e24870ca" providerId="ADAL" clId="{CA94579A-8811-47FE-851D-B810B9828178}" dt="2025-11-17T15:36:27.171" v="18" actId="2711"/>
          <ac:spMkLst>
            <pc:docMk/>
            <pc:sldMk cId="4224026095" sldId="256"/>
            <ac:spMk id="2" creationId="{00000000-0000-0000-0000-000000000000}"/>
          </ac:spMkLst>
        </pc:spChg>
        <pc:spChg chg="mod">
          <ac:chgData name="Eubank, Jason" userId="054f2d21-023f-49ba-8683-acb5e24870ca" providerId="ADAL" clId="{CA94579A-8811-47FE-851D-B810B9828178}" dt="2025-11-17T15:35:53.736" v="12" actId="20577"/>
          <ac:spMkLst>
            <pc:docMk/>
            <pc:sldMk cId="4224026095"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26B2B3-6B51-4BC0-A54D-D6E9BC47C8E9}"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3AB317-7BEE-4E14-B7D4-A5472619274C}" type="slidenum">
              <a:rPr lang="en-US" smtClean="0"/>
              <a:t>‹#›</a:t>
            </a:fld>
            <a:endParaRPr lang="en-US"/>
          </a:p>
        </p:txBody>
      </p:sp>
    </p:spTree>
    <p:extLst>
      <p:ext uri="{BB962C8B-B14F-4D97-AF65-F5344CB8AC3E}">
        <p14:creationId xmlns:p14="http://schemas.microsoft.com/office/powerpoint/2010/main" val="112609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presentation will delve into a data analysis project I conducted using R. The dataset we'll be exploring was compiled from an online database, providing a rich foundation for our investigation. Our primary analytical approach will involve regression analysis to uncover relationships within the data. We'll also visualize the main variables using scatterplots to gain a clear understanding of their distributions and any potential correlations. Following the core analysis, I'll draw further statistical inferences from our findings, and finally, we'll conclude with a comprehensive discussion of the results, summarizing their implications and significance.</a:t>
            </a:r>
          </a:p>
        </p:txBody>
      </p:sp>
      <p:sp>
        <p:nvSpPr>
          <p:cNvPr id="4" name="Slide Number Placeholder 3"/>
          <p:cNvSpPr>
            <a:spLocks noGrp="1"/>
          </p:cNvSpPr>
          <p:nvPr>
            <p:ph type="sldNum" sz="quarter" idx="10"/>
          </p:nvPr>
        </p:nvSpPr>
        <p:spPr/>
        <p:txBody>
          <a:bodyPr/>
          <a:lstStyle/>
          <a:p>
            <a:fld id="{123AB317-7BEE-4E14-B7D4-A5472619274C}" type="slidenum">
              <a:rPr lang="en-US" smtClean="0"/>
              <a:t>2</a:t>
            </a:fld>
            <a:endParaRPr lang="en-US"/>
          </a:p>
        </p:txBody>
      </p:sp>
    </p:spTree>
    <p:extLst>
      <p:ext uri="{BB962C8B-B14F-4D97-AF65-F5344CB8AC3E}">
        <p14:creationId xmlns:p14="http://schemas.microsoft.com/office/powerpoint/2010/main" val="2026147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Data obtained from NASA (GLB.Ts+dSST.csv) and Carbon measurements from 1750-2010 (global_CO2_1751_2010.xlsx, originally downloaded from Orak Ridge National Laboratory) to explain global warming. (Links in the references page).</a:t>
            </a:r>
          </a:p>
        </p:txBody>
      </p:sp>
      <p:sp>
        <p:nvSpPr>
          <p:cNvPr id="4" name="Slide Number Placeholder 3"/>
          <p:cNvSpPr>
            <a:spLocks noGrp="1"/>
          </p:cNvSpPr>
          <p:nvPr>
            <p:ph type="sldNum" sz="quarter" idx="10"/>
          </p:nvPr>
        </p:nvSpPr>
        <p:spPr/>
        <p:txBody>
          <a:bodyPr/>
          <a:lstStyle/>
          <a:p>
            <a:fld id="{123AB317-7BEE-4E14-B7D4-A5472619274C}" type="slidenum">
              <a:rPr lang="en-US" smtClean="0"/>
              <a:t>3</a:t>
            </a:fld>
            <a:endParaRPr lang="en-US"/>
          </a:p>
        </p:txBody>
      </p:sp>
    </p:spTree>
    <p:extLst>
      <p:ext uri="{BB962C8B-B14F-4D97-AF65-F5344CB8AC3E}">
        <p14:creationId xmlns:p14="http://schemas.microsoft.com/office/powerpoint/2010/main" val="3721690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makes this dataset especially compelling is its relevance to ongoing global discussions about sustainability, clean energy, and climate policy. By analyzing the trends in CO₂ emissions alongside changes in global temperature, I hope to uncover insights that support the scientific consensus that greenhouse gas emissions are a key driver of climate change. This kind of data analysis not only strengthens my skills in statistical modeling and interpretation, but also deepens my understanding of one of the most pressing issues of our time. Ultimately, working with this dataset feels both intellectually engaging and socially impactful, as it ties together academic knowledge and real-world application in a meaningful way.</a:t>
            </a:r>
          </a:p>
          <a:p>
            <a:endParaRPr lang="en-US" dirty="0"/>
          </a:p>
        </p:txBody>
      </p:sp>
      <p:sp>
        <p:nvSpPr>
          <p:cNvPr id="4" name="Slide Number Placeholder 3"/>
          <p:cNvSpPr>
            <a:spLocks noGrp="1"/>
          </p:cNvSpPr>
          <p:nvPr>
            <p:ph type="sldNum" sz="quarter" idx="10"/>
          </p:nvPr>
        </p:nvSpPr>
        <p:spPr/>
        <p:txBody>
          <a:bodyPr/>
          <a:lstStyle/>
          <a:p>
            <a:fld id="{123AB317-7BEE-4E14-B7D4-A5472619274C}" type="slidenum">
              <a:rPr lang="en-US" smtClean="0"/>
              <a:t>4</a:t>
            </a:fld>
            <a:endParaRPr lang="en-US"/>
          </a:p>
        </p:txBody>
      </p:sp>
    </p:spTree>
    <p:extLst>
      <p:ext uri="{BB962C8B-B14F-4D97-AF65-F5344CB8AC3E}">
        <p14:creationId xmlns:p14="http://schemas.microsoft.com/office/powerpoint/2010/main" val="1016465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scatterplot displays the relationship between total CO2 emissions and global temperature change. There appears to be a clear positive correlation, indicated by the upward sloping red line, which represents a linear trend. As CO2 emissions increase, there is a general tendency for the global temperature change to also increase. While the points show some variability around the trend line, suggesting other factors might influence temperature change, the overall pattern strongly indicates that higher CO2 emissions are associated with warmer global temperatures.</a:t>
            </a:r>
          </a:p>
        </p:txBody>
      </p:sp>
      <p:sp>
        <p:nvSpPr>
          <p:cNvPr id="4" name="Slide Number Placeholder 3"/>
          <p:cNvSpPr>
            <a:spLocks noGrp="1"/>
          </p:cNvSpPr>
          <p:nvPr>
            <p:ph type="sldNum" sz="quarter" idx="10"/>
          </p:nvPr>
        </p:nvSpPr>
        <p:spPr/>
        <p:txBody>
          <a:bodyPr/>
          <a:lstStyle/>
          <a:p>
            <a:fld id="{123AB317-7BEE-4E14-B7D4-A5472619274C}" type="slidenum">
              <a:rPr lang="en-US" smtClean="0"/>
              <a:t>5</a:t>
            </a:fld>
            <a:endParaRPr lang="en-US"/>
          </a:p>
        </p:txBody>
      </p:sp>
    </p:spTree>
    <p:extLst>
      <p:ext uri="{BB962C8B-B14F-4D97-AF65-F5344CB8AC3E}">
        <p14:creationId xmlns:p14="http://schemas.microsoft.com/office/powerpoint/2010/main" val="3561186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simple linear regression was performed to further evaluate the predictive relationship between CO₂ emissions (independent variable) and global temperature change (dependent variable).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model was statistically significant, </a:t>
            </a:r>
            <a:r>
              <a:rPr lang="en-US" sz="1200" i="1" kern="1200" dirty="0">
                <a:solidFill>
                  <a:schemeClr val="tx1"/>
                </a:solidFill>
                <a:effectLst/>
                <a:latin typeface="+mn-lt"/>
                <a:ea typeface="+mn-ea"/>
                <a:cs typeface="+mn-cs"/>
              </a:rPr>
              <a:t>F </a:t>
            </a:r>
            <a:r>
              <a:rPr lang="en-US" sz="1200" kern="1200" dirty="0">
                <a:solidFill>
                  <a:schemeClr val="tx1"/>
                </a:solidFill>
                <a:effectLst/>
                <a:latin typeface="+mn-lt"/>
                <a:ea typeface="+mn-ea"/>
                <a:cs typeface="+mn-cs"/>
              </a:rPr>
              <a:t>(1, 129) = 522.30, </a:t>
            </a:r>
            <a:r>
              <a:rPr lang="en-US" sz="1200" i="1" kern="1200" dirty="0">
                <a:solidFill>
                  <a:schemeClr val="tx1"/>
                </a:solidFill>
                <a:effectLst/>
                <a:latin typeface="+mn-lt"/>
                <a:ea typeface="+mn-ea"/>
                <a:cs typeface="+mn-cs"/>
              </a:rPr>
              <a:t>p</a:t>
            </a:r>
            <a:r>
              <a:rPr lang="en-US" sz="1200" kern="1200" dirty="0">
                <a:solidFill>
                  <a:schemeClr val="tx1"/>
                </a:solidFill>
                <a:effectLst/>
                <a:latin typeface="+mn-lt"/>
                <a:ea typeface="+mn-ea"/>
                <a:cs typeface="+mn-cs"/>
              </a:rPr>
              <a:t> &lt; .001 hence an association exists, and explained approximately 80.2% of the variance in temperature change (</a:t>
            </a:r>
            <a:r>
              <a:rPr lang="en-US" sz="1200" i="1" kern="1200" dirty="0">
                <a:solidFill>
                  <a:schemeClr val="tx1"/>
                </a:solidFill>
                <a:effectLst/>
                <a:latin typeface="+mn-lt"/>
                <a:ea typeface="+mn-ea"/>
                <a:cs typeface="+mn-cs"/>
              </a:rPr>
              <a:t>R</a:t>
            </a:r>
            <a:r>
              <a:rPr lang="en-US" sz="1200" kern="1200" dirty="0">
                <a:solidFill>
                  <a:schemeClr val="tx1"/>
                </a:solidFill>
                <a:effectLst/>
                <a:latin typeface="+mn-lt"/>
                <a:ea typeface="+mn-ea"/>
                <a:cs typeface="+mn-cs"/>
              </a:rPr>
              <a:t>² = .8019). </a:t>
            </a:r>
            <a:endParaRPr lang="en-US" dirty="0"/>
          </a:p>
        </p:txBody>
      </p:sp>
      <p:sp>
        <p:nvSpPr>
          <p:cNvPr id="4" name="Slide Number Placeholder 3"/>
          <p:cNvSpPr>
            <a:spLocks noGrp="1"/>
          </p:cNvSpPr>
          <p:nvPr>
            <p:ph type="sldNum" sz="quarter" idx="10"/>
          </p:nvPr>
        </p:nvSpPr>
        <p:spPr/>
        <p:txBody>
          <a:bodyPr/>
          <a:lstStyle/>
          <a:p>
            <a:fld id="{123AB317-7BEE-4E14-B7D4-A5472619274C}" type="slidenum">
              <a:rPr lang="en-US" smtClean="0"/>
              <a:t>6</a:t>
            </a:fld>
            <a:endParaRPr lang="en-US"/>
          </a:p>
        </p:txBody>
      </p:sp>
    </p:spTree>
    <p:extLst>
      <p:ext uri="{BB962C8B-B14F-4D97-AF65-F5344CB8AC3E}">
        <p14:creationId xmlns:p14="http://schemas.microsoft.com/office/powerpoint/2010/main" val="2667365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While the residuals are generally centered around zero, the slight increase in spread as fitted values increase could indicate a minor issue with the assumption of constant variance.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However, it doesn't suggest a strong violation of linearity.</a:t>
            </a:r>
          </a:p>
        </p:txBody>
      </p:sp>
      <p:sp>
        <p:nvSpPr>
          <p:cNvPr id="4" name="Slide Number Placeholder 3"/>
          <p:cNvSpPr>
            <a:spLocks noGrp="1"/>
          </p:cNvSpPr>
          <p:nvPr>
            <p:ph type="sldNum" sz="quarter" idx="10"/>
          </p:nvPr>
        </p:nvSpPr>
        <p:spPr/>
        <p:txBody>
          <a:bodyPr/>
          <a:lstStyle/>
          <a:p>
            <a:fld id="{123AB317-7BEE-4E14-B7D4-A5472619274C}" type="slidenum">
              <a:rPr lang="en-US" smtClean="0"/>
              <a:t>7</a:t>
            </a:fld>
            <a:endParaRPr lang="en-US"/>
          </a:p>
        </p:txBody>
      </p:sp>
    </p:spTree>
    <p:extLst>
      <p:ext uri="{BB962C8B-B14F-4D97-AF65-F5344CB8AC3E}">
        <p14:creationId xmlns:p14="http://schemas.microsoft.com/office/powerpoint/2010/main" val="2754230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For the most part, the points closely follow the red diagonal line, especially in the middle range. This suggests that the residuals </a:t>
            </a:r>
            <a:r>
              <a:rPr lang="en-US" b="0" dirty="0"/>
              <a:t>are approximately normally distributed</a:t>
            </a:r>
            <a:r>
              <a:rPr lang="en-US" dirty="0"/>
              <a:t>.</a:t>
            </a:r>
          </a:p>
        </p:txBody>
      </p:sp>
      <p:sp>
        <p:nvSpPr>
          <p:cNvPr id="4" name="Slide Number Placeholder 3"/>
          <p:cNvSpPr>
            <a:spLocks noGrp="1"/>
          </p:cNvSpPr>
          <p:nvPr>
            <p:ph type="sldNum" sz="quarter" idx="10"/>
          </p:nvPr>
        </p:nvSpPr>
        <p:spPr/>
        <p:txBody>
          <a:bodyPr/>
          <a:lstStyle/>
          <a:p>
            <a:fld id="{123AB317-7BEE-4E14-B7D4-A5472619274C}" type="slidenum">
              <a:rPr lang="en-US" smtClean="0"/>
              <a:t>8</a:t>
            </a:fld>
            <a:endParaRPr lang="en-US"/>
          </a:p>
        </p:txBody>
      </p:sp>
    </p:spTree>
    <p:extLst>
      <p:ext uri="{BB962C8B-B14F-4D97-AF65-F5344CB8AC3E}">
        <p14:creationId xmlns:p14="http://schemas.microsoft.com/office/powerpoint/2010/main" val="1350834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Because the residual diagnostics support the underlying assumptions of linear regression, we can confidently proceed with statistical inference using the fitted model.</a:t>
            </a:r>
          </a:p>
          <a:p>
            <a:r>
              <a:rPr lang="en-US" dirty="0"/>
              <a:t>The ANOVA table for the model confirms the statistical significance of 'Total Emissions' in explaining 'Temp Change'. The F-value of 522.31 with a significant p-value (indicated by '***’) </a:t>
            </a:r>
          </a:p>
          <a:p>
            <a:r>
              <a:rPr lang="en-US" dirty="0"/>
              <a:t>This strongly suggests that 'Total Emissions' is a significant predictor of temperature change. </a:t>
            </a:r>
          </a:p>
          <a:p>
            <a:endParaRPr lang="en-US" dirty="0"/>
          </a:p>
          <a:p>
            <a:r>
              <a:rPr lang="en-US" dirty="0"/>
              <a:t>Furthermore, the 95% confidence interval for the intercept is from −0.3293814 to −0.2629533781. For 'Total Emissions', the 95% confidence interval for its coefficient is from 9.386763×10</a:t>
            </a:r>
            <a:r>
              <a:rPr lang="en-US" dirty="0">
                <a:effectLst/>
              </a:rPr>
              <a:t>−5</a:t>
            </a:r>
            <a:r>
              <a:rPr lang="en-US" dirty="0"/>
              <a:t> to 1.116606×10</a:t>
            </a:r>
            <a:r>
              <a:rPr lang="en-US" dirty="0">
                <a:effectLst/>
              </a:rPr>
              <a:t>−4</a:t>
            </a:r>
            <a:r>
              <a:rPr lang="en-US" dirty="0"/>
              <a:t>. Since this interval does not include zero, it further reinforces the statistical significance of 'Total Emissions' as a predictor of 'Temp Change'. This means we are 95% confident that the true increase in temperature change for every unit increase in total emissions lies between 0.00009386763 and 0.0001116606 degrees Celsius.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123AB317-7BEE-4E14-B7D4-A5472619274C}" type="slidenum">
              <a:rPr lang="en-US" smtClean="0"/>
              <a:t>9</a:t>
            </a:fld>
            <a:endParaRPr lang="en-US"/>
          </a:p>
        </p:txBody>
      </p:sp>
    </p:spTree>
    <p:extLst>
      <p:ext uri="{BB962C8B-B14F-4D97-AF65-F5344CB8AC3E}">
        <p14:creationId xmlns:p14="http://schemas.microsoft.com/office/powerpoint/2010/main" val="3763745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C8861-EE76-A071-2132-2C3E93441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FB41B-DA02-C341-DA6A-5A0291E597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564A7-B6AC-0EA2-0E1B-9B4C37087810}"/>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this analysis, we evaluated whether annual CO₂ emissions predict changes in global temperature. The regression model is statistically significant suggesting that the model explains a substantial portion of the variation in temperature change. The slope coefficient for total emissions is positive and significant, with a 95% confidence interval that does not include zero. This confirms that higher CO₂ emissions are associated with higher global temperatures. Our residual analysis showed no violations of linear regression assumptions—residuals appear normally distributed, independent, and have constant variance. Overall, we conclude that there is strong evidence of a linear and meaningful relationship between global carbon emissions and rising global temperatures.</a:t>
            </a:r>
          </a:p>
        </p:txBody>
      </p:sp>
      <p:sp>
        <p:nvSpPr>
          <p:cNvPr id="4" name="Slide Number Placeholder 3">
            <a:extLst>
              <a:ext uri="{FF2B5EF4-FFF2-40B4-BE49-F238E27FC236}">
                <a16:creationId xmlns:a16="http://schemas.microsoft.com/office/drawing/2014/main" id="{EA7C5C4B-FBBA-FA5B-F765-0A8EE4674E26}"/>
              </a:ext>
            </a:extLst>
          </p:cNvPr>
          <p:cNvSpPr>
            <a:spLocks noGrp="1"/>
          </p:cNvSpPr>
          <p:nvPr>
            <p:ph type="sldNum" sz="quarter" idx="10"/>
          </p:nvPr>
        </p:nvSpPr>
        <p:spPr/>
        <p:txBody>
          <a:bodyPr/>
          <a:lstStyle/>
          <a:p>
            <a:fld id="{123AB317-7BEE-4E14-B7D4-A5472619274C}" type="slidenum">
              <a:rPr lang="en-US" smtClean="0"/>
              <a:t>10</a:t>
            </a:fld>
            <a:endParaRPr lang="en-US"/>
          </a:p>
        </p:txBody>
      </p:sp>
    </p:spTree>
    <p:extLst>
      <p:ext uri="{BB962C8B-B14F-4D97-AF65-F5344CB8AC3E}">
        <p14:creationId xmlns:p14="http://schemas.microsoft.com/office/powerpoint/2010/main" val="445716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123AB317-7BEE-4E14-B7D4-A5472619274C}" type="slidenum">
              <a:rPr lang="en-US" smtClean="0"/>
              <a:t>11</a:t>
            </a:fld>
            <a:endParaRPr lang="en-US"/>
          </a:p>
        </p:txBody>
      </p:sp>
    </p:spTree>
    <p:extLst>
      <p:ext uri="{BB962C8B-B14F-4D97-AF65-F5344CB8AC3E}">
        <p14:creationId xmlns:p14="http://schemas.microsoft.com/office/powerpoint/2010/main" val="1457337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88E1A3-3A19-4CE3-8C24-5405777AA10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04EB0-BE83-4F76-AEBB-3B115BB171C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9185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88E1A3-3A19-4CE3-8C24-5405777AA10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04EB0-BE83-4F76-AEBB-3B115BB171C8}" type="slidenum">
              <a:rPr lang="en-US" smtClean="0"/>
              <a:t>‹#›</a:t>
            </a:fld>
            <a:endParaRPr lang="en-US"/>
          </a:p>
        </p:txBody>
      </p:sp>
    </p:spTree>
    <p:extLst>
      <p:ext uri="{BB962C8B-B14F-4D97-AF65-F5344CB8AC3E}">
        <p14:creationId xmlns:p14="http://schemas.microsoft.com/office/powerpoint/2010/main" val="309894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188E1A3-3A19-4CE3-8C24-5405777AA10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04EB0-BE83-4F76-AEBB-3B115BB171C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1831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88E1A3-3A19-4CE3-8C24-5405777AA10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C04EB0-BE83-4F76-AEBB-3B115BB171C8}" type="slidenum">
              <a:rPr lang="en-US" smtClean="0"/>
              <a:t>‹#›</a:t>
            </a:fld>
            <a:endParaRPr lang="en-US"/>
          </a:p>
        </p:txBody>
      </p:sp>
    </p:spTree>
    <p:extLst>
      <p:ext uri="{BB962C8B-B14F-4D97-AF65-F5344CB8AC3E}">
        <p14:creationId xmlns:p14="http://schemas.microsoft.com/office/powerpoint/2010/main" val="3552758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88E1A3-3A19-4CE3-8C24-5405777AA104}"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C04EB0-BE83-4F76-AEBB-3B115BB171C8}" type="slidenum">
              <a:rPr lang="en-US" smtClean="0"/>
              <a:t>‹#›</a:t>
            </a:fld>
            <a:endParaRPr lang="en-US"/>
          </a:p>
        </p:txBody>
      </p:sp>
    </p:spTree>
    <p:extLst>
      <p:ext uri="{BB962C8B-B14F-4D97-AF65-F5344CB8AC3E}">
        <p14:creationId xmlns:p14="http://schemas.microsoft.com/office/powerpoint/2010/main" val="741922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88E1A3-3A19-4CE3-8C24-5405777AA104}"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C04EB0-BE83-4F76-AEBB-3B115BB171C8}" type="slidenum">
              <a:rPr lang="en-US" smtClean="0"/>
              <a:t>‹#›</a:t>
            </a:fld>
            <a:endParaRPr lang="en-US"/>
          </a:p>
        </p:txBody>
      </p:sp>
    </p:spTree>
    <p:extLst>
      <p:ext uri="{BB962C8B-B14F-4D97-AF65-F5344CB8AC3E}">
        <p14:creationId xmlns:p14="http://schemas.microsoft.com/office/powerpoint/2010/main" val="438165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188E1A3-3A19-4CE3-8C24-5405777AA104}" type="datetimeFigureOut">
              <a:rPr lang="en-US" smtClean="0"/>
              <a:t>11/17/2025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C04EB0-BE83-4F76-AEBB-3B115BB171C8}" type="slidenum">
              <a:rPr lang="en-US" smtClean="0"/>
              <a:t>‹#›</a:t>
            </a:fld>
            <a:endParaRPr lang="en-US"/>
          </a:p>
        </p:txBody>
      </p:sp>
    </p:spTree>
    <p:extLst>
      <p:ext uri="{BB962C8B-B14F-4D97-AF65-F5344CB8AC3E}">
        <p14:creationId xmlns:p14="http://schemas.microsoft.com/office/powerpoint/2010/main" val="3879048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188E1A3-3A19-4CE3-8C24-5405777AA104}" type="datetimeFigureOut">
              <a:rPr lang="en-US" smtClean="0"/>
              <a:t>11/17/2025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C04EB0-BE83-4F76-AEBB-3B115BB171C8}" type="slidenum">
              <a:rPr lang="en-US" smtClean="0"/>
              <a:t>‹#›</a:t>
            </a:fld>
            <a:endParaRPr lang="en-US"/>
          </a:p>
        </p:txBody>
      </p:sp>
    </p:spTree>
    <p:extLst>
      <p:ext uri="{BB962C8B-B14F-4D97-AF65-F5344CB8AC3E}">
        <p14:creationId xmlns:p14="http://schemas.microsoft.com/office/powerpoint/2010/main" val="2843908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188E1A3-3A19-4CE3-8C24-5405777AA104}"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C04EB0-BE83-4F76-AEBB-3B115BB171C8}" type="slidenum">
              <a:rPr lang="en-US" smtClean="0"/>
              <a:t>‹#›</a:t>
            </a:fld>
            <a:endParaRPr lang="en-US"/>
          </a:p>
        </p:txBody>
      </p:sp>
    </p:spTree>
    <p:extLst>
      <p:ext uri="{BB962C8B-B14F-4D97-AF65-F5344CB8AC3E}">
        <p14:creationId xmlns:p14="http://schemas.microsoft.com/office/powerpoint/2010/main" val="81686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88E1A3-3A19-4CE3-8C24-5405777AA10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04EB0-BE83-4F76-AEBB-3B115BB171C8}" type="slidenum">
              <a:rPr lang="en-US" smtClean="0"/>
              <a:t>‹#›</a:t>
            </a:fld>
            <a:endParaRPr lang="en-US"/>
          </a:p>
        </p:txBody>
      </p:sp>
    </p:spTree>
    <p:extLst>
      <p:ext uri="{BB962C8B-B14F-4D97-AF65-F5344CB8AC3E}">
        <p14:creationId xmlns:p14="http://schemas.microsoft.com/office/powerpoint/2010/main" val="1402506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88E1A3-3A19-4CE3-8C24-5405777AA104}"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04EB0-BE83-4F76-AEBB-3B115BB171C8}" type="slidenum">
              <a:rPr lang="en-US" smtClean="0"/>
              <a:t>‹#›</a:t>
            </a:fld>
            <a:endParaRPr lang="en-US"/>
          </a:p>
        </p:txBody>
      </p:sp>
    </p:spTree>
    <p:extLst>
      <p:ext uri="{BB962C8B-B14F-4D97-AF65-F5344CB8AC3E}">
        <p14:creationId xmlns:p14="http://schemas.microsoft.com/office/powerpoint/2010/main" val="1836149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188E1A3-3A19-4CE3-8C24-5405777AA104}" type="datetimeFigureOut">
              <a:rPr lang="en-US" smtClean="0"/>
              <a:t>11/17/2025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C04EB0-BE83-4F76-AEBB-3B115BB171C8}"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2329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ata.giss.nasa.gov/gistem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data.giss.nasa.gov/gistemp/tabledata_v3/GLB.Ts+dSST.tx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2441448"/>
          </a:xfrm>
        </p:spPr>
        <p:txBody>
          <a:bodyPr>
            <a:normAutofit/>
          </a:bodyPr>
          <a:lstStyle/>
          <a:p>
            <a:pPr algn="ctr"/>
            <a:r>
              <a:rPr lang="en-US" sz="4800" kern="0" dirty="0">
                <a:latin typeface="Times New Roman" panose="02020603050405020304" pitchFamily="18" charset="0"/>
                <a:ea typeface="DengXian"/>
                <a:cs typeface="Times New Roman" panose="02020603050405020304" pitchFamily="18" charset="0"/>
              </a:rPr>
              <a:t>CODING IN R - </a:t>
            </a:r>
            <a:r>
              <a:rPr lang="en-US" sz="4800" dirty="0">
                <a:latin typeface="Times New Roman" panose="02020603050405020304" pitchFamily="18" charset="0"/>
                <a:cs typeface="Times New Roman" panose="02020603050405020304" pitchFamily="18" charset="0"/>
              </a:rPr>
              <a:t>Global Warming Analysis </a:t>
            </a:r>
            <a:r>
              <a:rPr lang="en-US" sz="4800" kern="0" dirty="0">
                <a:latin typeface="Times New Roman" panose="02020603050405020304" pitchFamily="18" charset="0"/>
                <a:ea typeface="DengXian"/>
                <a:cs typeface="Times New Roman" panose="02020603050405020304" pitchFamily="18" charset="0"/>
              </a:rPr>
              <a:t>Project</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Presented by: Jason </a:t>
            </a:r>
            <a:r>
              <a:rPr lang="en-US" dirty="0" err="1">
                <a:solidFill>
                  <a:schemeClr val="tx1"/>
                </a:solidFill>
                <a:latin typeface="Times New Roman" panose="02020603050405020304" pitchFamily="18" charset="0"/>
                <a:cs typeface="Times New Roman" panose="02020603050405020304" pitchFamily="18" charset="0"/>
              </a:rPr>
              <a:t>EUbank</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4026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The presentation entails a data analysis conducted in R.</a:t>
            </a:r>
          </a:p>
          <a:p>
            <a:r>
              <a:rPr lang="en-US" dirty="0">
                <a:solidFill>
                  <a:schemeClr val="tx1"/>
                </a:solidFill>
                <a:latin typeface="Times New Roman" panose="02020603050405020304" pitchFamily="18" charset="0"/>
                <a:cs typeface="Times New Roman" panose="02020603050405020304" pitchFamily="18" charset="0"/>
              </a:rPr>
              <a:t>The dataset used was formulated from an online database.</a:t>
            </a:r>
          </a:p>
          <a:p>
            <a:r>
              <a:rPr lang="en-US" dirty="0">
                <a:solidFill>
                  <a:schemeClr val="tx1"/>
                </a:solidFill>
                <a:latin typeface="Times New Roman" panose="02020603050405020304" pitchFamily="18" charset="0"/>
                <a:cs typeface="Times New Roman" panose="02020603050405020304" pitchFamily="18" charset="0"/>
              </a:rPr>
              <a:t>The analysis will mainly be comprised of regression analysis.</a:t>
            </a:r>
          </a:p>
          <a:p>
            <a:r>
              <a:rPr lang="en-US" dirty="0">
                <a:solidFill>
                  <a:schemeClr val="tx1"/>
                </a:solidFill>
                <a:latin typeface="Times New Roman" panose="02020603050405020304" pitchFamily="18" charset="0"/>
                <a:cs typeface="Times New Roman" panose="02020603050405020304" pitchFamily="18" charset="0"/>
              </a:rPr>
              <a:t>The main variables will as well be visualized via a scatterplot.</a:t>
            </a:r>
          </a:p>
          <a:p>
            <a:r>
              <a:rPr lang="en-US" dirty="0">
                <a:solidFill>
                  <a:schemeClr val="tx1"/>
                </a:solidFill>
                <a:latin typeface="Times New Roman" panose="02020603050405020304" pitchFamily="18" charset="0"/>
                <a:cs typeface="Times New Roman" panose="02020603050405020304" pitchFamily="18" charset="0"/>
              </a:rPr>
              <a:t>A further statistical inference will be made based on the analysis.</a:t>
            </a:r>
          </a:p>
          <a:p>
            <a:r>
              <a:rPr lang="en-US" dirty="0">
                <a:solidFill>
                  <a:schemeClr val="tx1"/>
                </a:solidFill>
                <a:latin typeface="Times New Roman" panose="02020603050405020304" pitchFamily="18" charset="0"/>
                <a:cs typeface="Times New Roman" panose="02020603050405020304" pitchFamily="18" charset="0"/>
              </a:rPr>
              <a:t>Lastly, a discussion of the results will finalize the analysis.</a:t>
            </a: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5320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Data </a:t>
            </a:r>
          </a:p>
        </p:txBody>
      </p:sp>
      <p:sp>
        <p:nvSpPr>
          <p:cNvPr id="3" name="Content Placeholder 2"/>
          <p:cNvSpPr>
            <a:spLocks noGrp="1"/>
          </p:cNvSpPr>
          <p:nvPr>
            <p:ph sz="half" idx="1"/>
          </p:nvPr>
        </p:nvSpPr>
        <p:spPr>
          <a:xfrm>
            <a:off x="1097279" y="1845734"/>
            <a:ext cx="6241070" cy="4023360"/>
          </a:xfrm>
        </p:spPr>
        <p:txBody>
          <a:bodyPr/>
          <a:lstStyle/>
          <a:p>
            <a:r>
              <a:rPr lang="en-US" dirty="0">
                <a:solidFill>
                  <a:schemeClr val="tx1"/>
                </a:solidFill>
                <a:latin typeface="Times New Roman" panose="02020603050405020304" pitchFamily="18" charset="0"/>
                <a:cs typeface="Times New Roman" panose="02020603050405020304" pitchFamily="18" charset="0"/>
              </a:rPr>
              <a:t>The main data were collected from publicly available sources.</a:t>
            </a:r>
          </a:p>
          <a:p>
            <a:r>
              <a:rPr lang="en-US" dirty="0">
                <a:solidFill>
                  <a:schemeClr val="tx1"/>
                </a:solidFill>
                <a:latin typeface="Times New Roman" panose="02020603050405020304" pitchFamily="18" charset="0"/>
                <a:cs typeface="Times New Roman" panose="02020603050405020304" pitchFamily="18" charset="0"/>
              </a:rPr>
              <a:t>That is NASA’s Goddard Institute for Space Studies (GISS) and the Global Carbon Project. </a:t>
            </a:r>
          </a:p>
          <a:p>
            <a:r>
              <a:rPr lang="en-US" dirty="0">
                <a:solidFill>
                  <a:schemeClr val="tx1"/>
                </a:solidFill>
                <a:latin typeface="Times New Roman" panose="02020603050405020304" pitchFamily="18" charset="0"/>
                <a:cs typeface="Times New Roman" panose="02020603050405020304" pitchFamily="18" charset="0"/>
              </a:rPr>
              <a:t>The dataset includes yearly records from 1880 to 2010. </a:t>
            </a:r>
          </a:p>
          <a:p>
            <a:r>
              <a:rPr lang="en-US" dirty="0">
                <a:solidFill>
                  <a:schemeClr val="tx1"/>
                </a:solidFill>
                <a:latin typeface="Times New Roman" panose="02020603050405020304" pitchFamily="18" charset="0"/>
                <a:cs typeface="Times New Roman" panose="02020603050405020304" pitchFamily="18" charset="0"/>
              </a:rPr>
              <a:t>Two key variables are analyzed: Annual global temperature change (measured in degrees Celsius relative to a pre-industrial baseline) and Annual total CO₂ emissions (measured in gigatons per year).</a:t>
            </a:r>
          </a:p>
        </p:txBody>
      </p:sp>
      <p:pic>
        <p:nvPicPr>
          <p:cNvPr id="6" name="Content Placeholder 5">
            <a:extLst>
              <a:ext uri="{FF2B5EF4-FFF2-40B4-BE49-F238E27FC236}">
                <a16:creationId xmlns:a16="http://schemas.microsoft.com/office/drawing/2014/main" id="{22B21E9C-C33A-44CC-1FB7-2CA345CA9394}"/>
              </a:ext>
            </a:extLst>
          </p:cNvPr>
          <p:cNvPicPr>
            <a:picLocks noGrp="1" noChangeAspect="1"/>
          </p:cNvPicPr>
          <p:nvPr>
            <p:ph sz="half" idx="2"/>
          </p:nvPr>
        </p:nvPicPr>
        <p:blipFill>
          <a:blip r:embed="rId3"/>
          <a:stretch>
            <a:fillRect/>
          </a:stretch>
        </p:blipFill>
        <p:spPr>
          <a:xfrm>
            <a:off x="7470916" y="1846263"/>
            <a:ext cx="2923150" cy="4022725"/>
          </a:xfrm>
        </p:spPr>
      </p:pic>
    </p:spTree>
    <p:extLst>
      <p:ext uri="{BB962C8B-B14F-4D97-AF65-F5344CB8AC3E}">
        <p14:creationId xmlns:p14="http://schemas.microsoft.com/office/powerpoint/2010/main" val="3598291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Why the data was selected</a:t>
            </a:r>
          </a:p>
        </p:txBody>
      </p:sp>
      <p:sp>
        <p:nvSpPr>
          <p:cNvPr id="3" name="Content Placeholder 2"/>
          <p:cNvSpPr>
            <a:spLocks noGrp="1"/>
          </p:cNvSpPr>
          <p:nvPr>
            <p:ph idx="1"/>
          </p:nvPr>
        </p:nvSpPr>
        <p:spPr/>
        <p:txBody>
          <a:bodyPr>
            <a:normAutofit lnSpcReduction="10000"/>
          </a:bodyPr>
          <a:lstStyle/>
          <a:p>
            <a:r>
              <a:rPr lang="en-US" dirty="0">
                <a:solidFill>
                  <a:schemeClr val="tx1"/>
                </a:solidFill>
                <a:latin typeface="Times New Roman" panose="02020603050405020304" pitchFamily="18" charset="0"/>
                <a:cs typeface="Times New Roman" panose="02020603050405020304" pitchFamily="18" charset="0"/>
              </a:rPr>
              <a:t>The motivation for choosing this dataset arises from my growing interest in the environmental challenges facing our world, particularly climate change. </a:t>
            </a:r>
          </a:p>
          <a:p>
            <a:r>
              <a:rPr lang="en-US" dirty="0">
                <a:solidFill>
                  <a:schemeClr val="tx1"/>
                </a:solidFill>
                <a:latin typeface="Times New Roman" panose="02020603050405020304" pitchFamily="18" charset="0"/>
                <a:cs typeface="Times New Roman" panose="02020603050405020304" pitchFamily="18" charset="0"/>
              </a:rPr>
              <a:t>As global temperatures continue to rise, the consequences, ranging from more frequent natural disasters to sea level rise and disruptions to agriculture are becoming increasingly evident. </a:t>
            </a:r>
          </a:p>
          <a:p>
            <a:r>
              <a:rPr lang="en-US" dirty="0">
                <a:solidFill>
                  <a:schemeClr val="tx1"/>
                </a:solidFill>
                <a:latin typeface="Times New Roman" panose="02020603050405020304" pitchFamily="18" charset="0"/>
                <a:cs typeface="Times New Roman" panose="02020603050405020304" pitchFamily="18" charset="0"/>
              </a:rPr>
              <a:t>I have always been interested in understanding how scientific data can be used to make informed decisions and influence policy. </a:t>
            </a:r>
          </a:p>
          <a:p>
            <a:r>
              <a:rPr lang="en-US" dirty="0">
                <a:solidFill>
                  <a:schemeClr val="tx1"/>
                </a:solidFill>
                <a:latin typeface="Times New Roman" panose="02020603050405020304" pitchFamily="18" charset="0"/>
                <a:cs typeface="Times New Roman" panose="02020603050405020304" pitchFamily="18" charset="0"/>
              </a:rPr>
              <a:t>This dataset provides a direct way to explore the connection between human activity, in the form of CO₂ emissions, and changes in global temperature over time. </a:t>
            </a:r>
          </a:p>
          <a:p>
            <a:r>
              <a:rPr lang="en-US" dirty="0">
                <a:solidFill>
                  <a:schemeClr val="tx1"/>
                </a:solidFill>
                <a:latin typeface="Times New Roman" panose="02020603050405020304" pitchFamily="18" charset="0"/>
                <a:cs typeface="Times New Roman" panose="02020603050405020304" pitchFamily="18" charset="0"/>
              </a:rPr>
              <a:t>The opportunity to examine over a century’s worth of data from credible sources like NASA’s Goddard Institute for Space Studies and the Global Carbon Project adds to its value and credibility.</a:t>
            </a:r>
          </a:p>
          <a:p>
            <a:r>
              <a:rPr lang="en-US" dirty="0">
                <a:solidFill>
                  <a:schemeClr val="tx1"/>
                </a:solidFill>
                <a:latin typeface="Times New Roman" panose="02020603050405020304" pitchFamily="18"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1926961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Scatterplot</a:t>
            </a:r>
          </a:p>
        </p:txBody>
      </p:sp>
      <p:sp>
        <p:nvSpPr>
          <p:cNvPr id="3" name="Content Placeholder 2"/>
          <p:cNvSpPr>
            <a:spLocks noGrp="1"/>
          </p:cNvSpPr>
          <p:nvPr>
            <p:ph idx="1"/>
          </p:nvPr>
        </p:nvSpPr>
        <p:spPr/>
        <p:txBody>
          <a:bodyPr/>
          <a:lstStyle/>
          <a:p>
            <a:pPr marL="0" indent="0">
              <a:buNone/>
            </a:pPr>
            <a:endParaRPr lang="en-US" dirty="0">
              <a:solidFill>
                <a:schemeClr val="tx1"/>
              </a:solidFill>
              <a:latin typeface="Times New Roman" panose="02020603050405020304" pitchFamily="18" charset="0"/>
              <a:cs typeface="Times New Roman" panose="02020603050405020304" pitchFamily="18" charset="0"/>
            </a:endParaRPr>
          </a:p>
          <a:p>
            <a:pPr marL="0" indent="0">
              <a:buNone/>
            </a:pPr>
            <a:endParaRPr lang="en-US" dirty="0"/>
          </a:p>
        </p:txBody>
      </p:sp>
      <p:pic>
        <p:nvPicPr>
          <p:cNvPr id="5" name="Picture 4">
            <a:extLst>
              <a:ext uri="{FF2B5EF4-FFF2-40B4-BE49-F238E27FC236}">
                <a16:creationId xmlns:a16="http://schemas.microsoft.com/office/drawing/2014/main" id="{F8066376-618E-2D0F-E965-7BE92405BEC9}"/>
              </a:ext>
            </a:extLst>
          </p:cNvPr>
          <p:cNvPicPr>
            <a:picLocks noChangeAspect="1"/>
          </p:cNvPicPr>
          <p:nvPr/>
        </p:nvPicPr>
        <p:blipFill>
          <a:blip r:embed="rId3"/>
          <a:stretch>
            <a:fillRect/>
          </a:stretch>
        </p:blipFill>
        <p:spPr>
          <a:xfrm>
            <a:off x="937548" y="1845733"/>
            <a:ext cx="7245753" cy="4464685"/>
          </a:xfrm>
          <a:prstGeom prst="rect">
            <a:avLst/>
          </a:prstGeom>
        </p:spPr>
      </p:pic>
    </p:spTree>
    <p:extLst>
      <p:ext uri="{BB962C8B-B14F-4D97-AF65-F5344CB8AC3E}">
        <p14:creationId xmlns:p14="http://schemas.microsoft.com/office/powerpoint/2010/main" val="1731771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Simple linear regression</a:t>
            </a:r>
          </a:p>
        </p:txBody>
      </p:sp>
      <p:sp>
        <p:nvSpPr>
          <p:cNvPr id="3" name="Content Placeholder 2"/>
          <p:cNvSpPr>
            <a:spLocks noGrp="1"/>
          </p:cNvSpPr>
          <p:nvPr>
            <p:ph idx="1"/>
          </p:nvPr>
        </p:nvSpPr>
        <p:spPr>
          <a:xfrm>
            <a:off x="1097280" y="1737360"/>
            <a:ext cx="10058400" cy="4524544"/>
          </a:xfrm>
        </p:spPr>
        <p:txBody>
          <a:bodyPr>
            <a:normAutofit fontScale="92500" lnSpcReduction="20000"/>
          </a:bodyPr>
          <a:lstStyle/>
          <a:p>
            <a:r>
              <a:rPr lang="en-US" sz="1200" dirty="0">
                <a:solidFill>
                  <a:schemeClr val="tx1"/>
                </a:solidFill>
                <a:latin typeface="Lucida Sans Unicode" panose="020B0602030504020204" pitchFamily="34" charset="0"/>
                <a:cs typeface="Lucida Sans Unicode" panose="020B0602030504020204" pitchFamily="34" charset="0"/>
              </a:rPr>
              <a:t>&gt; summary(model)</a:t>
            </a:r>
          </a:p>
          <a:p>
            <a:r>
              <a:rPr lang="en-US" sz="1200" dirty="0">
                <a:solidFill>
                  <a:schemeClr val="tx1"/>
                </a:solidFill>
                <a:latin typeface="Lucida Sans Unicode" panose="020B0602030504020204" pitchFamily="34" charset="0"/>
                <a:cs typeface="Lucida Sans Unicode" panose="020B0602030504020204" pitchFamily="34" charset="0"/>
              </a:rPr>
              <a:t>Call:</a:t>
            </a:r>
          </a:p>
          <a:p>
            <a:r>
              <a:rPr lang="en-US" sz="1200" dirty="0" err="1">
                <a:solidFill>
                  <a:schemeClr val="tx1"/>
                </a:solidFill>
                <a:latin typeface="Lucida Sans Unicode" panose="020B0602030504020204" pitchFamily="34" charset="0"/>
                <a:cs typeface="Lucida Sans Unicode" panose="020B0602030504020204" pitchFamily="34" charset="0"/>
              </a:rPr>
              <a:t>lm</a:t>
            </a:r>
            <a:r>
              <a:rPr lang="en-US" sz="1200" dirty="0">
                <a:solidFill>
                  <a:schemeClr val="tx1"/>
                </a:solidFill>
                <a:latin typeface="Lucida Sans Unicode" panose="020B0602030504020204" pitchFamily="34" charset="0"/>
                <a:cs typeface="Lucida Sans Unicode" panose="020B0602030504020204" pitchFamily="34" charset="0"/>
              </a:rPr>
              <a:t>(formula = `Temp Change` ~ `Total Emissions`, data = g_warming_data)</a:t>
            </a:r>
          </a:p>
          <a:p>
            <a:r>
              <a:rPr lang="en-US" sz="1200" dirty="0">
                <a:solidFill>
                  <a:schemeClr val="tx1"/>
                </a:solidFill>
                <a:latin typeface="Lucida Sans Unicode" panose="020B0602030504020204" pitchFamily="34" charset="0"/>
                <a:cs typeface="Lucida Sans Unicode" panose="020B0602030504020204" pitchFamily="34" charset="0"/>
              </a:rPr>
              <a:t>Residuals:</a:t>
            </a:r>
          </a:p>
          <a:p>
            <a:r>
              <a:rPr lang="en-US" sz="1200" dirty="0">
                <a:solidFill>
                  <a:schemeClr val="tx1"/>
                </a:solidFill>
                <a:latin typeface="Lucida Sans Unicode" panose="020B0602030504020204" pitchFamily="34" charset="0"/>
                <a:cs typeface="Lucida Sans Unicode" panose="020B0602030504020204" pitchFamily="34" charset="0"/>
              </a:rPr>
              <a:t>     Min       1Q   Median       3Q      Max </a:t>
            </a:r>
          </a:p>
          <a:p>
            <a:r>
              <a:rPr lang="en-US" sz="1200" dirty="0">
                <a:solidFill>
                  <a:schemeClr val="tx1"/>
                </a:solidFill>
                <a:latin typeface="Lucida Sans Unicode" panose="020B0602030504020204" pitchFamily="34" charset="0"/>
                <a:cs typeface="Lucida Sans Unicode" panose="020B0602030504020204" pitchFamily="34" charset="0"/>
              </a:rPr>
              <a:t>-0.31368 -0.08822  0.00097  0.08986  0.36404 </a:t>
            </a:r>
          </a:p>
          <a:p>
            <a:r>
              <a:rPr lang="en-US" sz="1200" dirty="0">
                <a:solidFill>
                  <a:schemeClr val="tx1"/>
                </a:solidFill>
                <a:latin typeface="Lucida Sans Unicode" panose="020B0602030504020204" pitchFamily="34" charset="0"/>
                <a:cs typeface="Lucida Sans Unicode" panose="020B0602030504020204" pitchFamily="34" charset="0"/>
              </a:rPr>
              <a:t>Coefficients:</a:t>
            </a:r>
          </a:p>
          <a:p>
            <a:r>
              <a:rPr lang="en-US" sz="1200" dirty="0">
                <a:solidFill>
                  <a:schemeClr val="tx1"/>
                </a:solidFill>
                <a:latin typeface="Lucida Sans Unicode" panose="020B0602030504020204" pitchFamily="34" charset="0"/>
                <a:cs typeface="Lucida Sans Unicode" panose="020B0602030504020204" pitchFamily="34" charset="0"/>
              </a:rPr>
              <a:t>                    Estimate Std. Error t value </a:t>
            </a:r>
            <a:r>
              <a:rPr lang="en-US" sz="1200" dirty="0" err="1">
                <a:solidFill>
                  <a:schemeClr val="tx1"/>
                </a:solidFill>
                <a:latin typeface="Lucida Sans Unicode" panose="020B0602030504020204" pitchFamily="34" charset="0"/>
                <a:cs typeface="Lucida Sans Unicode" panose="020B0602030504020204" pitchFamily="34" charset="0"/>
              </a:rPr>
              <a:t>Pr</a:t>
            </a:r>
            <a:r>
              <a:rPr lang="en-US" sz="1200" dirty="0">
                <a:solidFill>
                  <a:schemeClr val="tx1"/>
                </a:solidFill>
                <a:latin typeface="Lucida Sans Unicode" panose="020B0602030504020204" pitchFamily="34" charset="0"/>
                <a:cs typeface="Lucida Sans Unicode" panose="020B0602030504020204" pitchFamily="34" charset="0"/>
              </a:rPr>
              <a:t>(&gt;|t|)    </a:t>
            </a:r>
          </a:p>
          <a:p>
            <a:r>
              <a:rPr lang="en-US" sz="1200" dirty="0">
                <a:solidFill>
                  <a:schemeClr val="tx1"/>
                </a:solidFill>
                <a:latin typeface="Lucida Sans Unicode" panose="020B0602030504020204" pitchFamily="34" charset="0"/>
                <a:cs typeface="Lucida Sans Unicode" panose="020B0602030504020204" pitchFamily="34" charset="0"/>
              </a:rPr>
              <a:t>(Intercept)       -2.962e-01  1.679e-02  -17.64   &lt;2e-16 ***</a:t>
            </a:r>
          </a:p>
          <a:p>
            <a:r>
              <a:rPr lang="en-US" sz="1200" dirty="0">
                <a:solidFill>
                  <a:schemeClr val="tx1"/>
                </a:solidFill>
                <a:latin typeface="Lucida Sans Unicode" panose="020B0602030504020204" pitchFamily="34" charset="0"/>
                <a:cs typeface="Lucida Sans Unicode" panose="020B0602030504020204" pitchFamily="34" charset="0"/>
              </a:rPr>
              <a:t>`Total Emissions`  1.028e-04  4.497e-06   22.85   &lt;2e-16 ***</a:t>
            </a:r>
          </a:p>
          <a:p>
            <a:r>
              <a:rPr lang="en-US" sz="1200" dirty="0">
                <a:solidFill>
                  <a:schemeClr val="tx1"/>
                </a:solidFill>
                <a:latin typeface="Lucida Sans Unicode" panose="020B0602030504020204" pitchFamily="34" charset="0"/>
                <a:cs typeface="Lucida Sans Unicode" panose="020B0602030504020204" pitchFamily="34" charset="0"/>
              </a:rPr>
              <a:t>---</a:t>
            </a:r>
          </a:p>
          <a:p>
            <a:r>
              <a:rPr lang="en-US" sz="1200" dirty="0" err="1">
                <a:solidFill>
                  <a:schemeClr val="tx1"/>
                </a:solidFill>
                <a:latin typeface="Lucida Sans Unicode" panose="020B0602030504020204" pitchFamily="34" charset="0"/>
                <a:cs typeface="Lucida Sans Unicode" panose="020B0602030504020204" pitchFamily="34" charset="0"/>
              </a:rPr>
              <a:t>Signif</a:t>
            </a:r>
            <a:r>
              <a:rPr lang="en-US" sz="1200" dirty="0">
                <a:solidFill>
                  <a:schemeClr val="tx1"/>
                </a:solidFill>
                <a:latin typeface="Lucida Sans Unicode" panose="020B0602030504020204" pitchFamily="34" charset="0"/>
                <a:cs typeface="Lucida Sans Unicode" panose="020B0602030504020204" pitchFamily="34" charset="0"/>
              </a:rPr>
              <a:t>. codes:  0 ‘***’ 0.001 ‘**’ 0.01 ‘*’ 0.05 ‘.’ 0.1 ‘ ’ 1</a:t>
            </a:r>
          </a:p>
          <a:p>
            <a:r>
              <a:rPr lang="en-US" sz="1200" dirty="0">
                <a:solidFill>
                  <a:schemeClr val="tx1"/>
                </a:solidFill>
                <a:latin typeface="Lucida Sans Unicode" panose="020B0602030504020204" pitchFamily="34" charset="0"/>
                <a:cs typeface="Lucida Sans Unicode" panose="020B0602030504020204" pitchFamily="34" charset="0"/>
              </a:rPr>
              <a:t>Residual standard error: 0.1301 on 129 degrees of freedom</a:t>
            </a:r>
          </a:p>
          <a:p>
            <a:r>
              <a:rPr lang="en-US" sz="1200" dirty="0">
                <a:solidFill>
                  <a:schemeClr val="tx1"/>
                </a:solidFill>
                <a:latin typeface="Lucida Sans Unicode" panose="020B0602030504020204" pitchFamily="34" charset="0"/>
                <a:cs typeface="Lucida Sans Unicode" panose="020B0602030504020204" pitchFamily="34" charset="0"/>
              </a:rPr>
              <a:t>Multiple R-squared:  0.8019,	Adjusted R-squared:  0.8004 </a:t>
            </a:r>
          </a:p>
          <a:p>
            <a:r>
              <a:rPr lang="en-US" sz="1200" dirty="0">
                <a:solidFill>
                  <a:schemeClr val="tx1"/>
                </a:solidFill>
                <a:latin typeface="Lucida Sans Unicode" panose="020B0602030504020204" pitchFamily="34" charset="0"/>
                <a:cs typeface="Lucida Sans Unicode" panose="020B0602030504020204" pitchFamily="34" charset="0"/>
              </a:rPr>
              <a:t>F-statistic: 522.3 on 1 and 129 DF,  p-value: &lt; 2.2e-16</a:t>
            </a:r>
          </a:p>
        </p:txBody>
      </p:sp>
    </p:spTree>
    <p:extLst>
      <p:ext uri="{BB962C8B-B14F-4D97-AF65-F5344CB8AC3E}">
        <p14:creationId xmlns:p14="http://schemas.microsoft.com/office/powerpoint/2010/main" val="2819474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Residual analysis </a:t>
            </a:r>
          </a:p>
        </p:txBody>
      </p:sp>
      <p:pic>
        <p:nvPicPr>
          <p:cNvPr id="5" name="Content Placeholder 4">
            <a:extLst>
              <a:ext uri="{FF2B5EF4-FFF2-40B4-BE49-F238E27FC236}">
                <a16:creationId xmlns:a16="http://schemas.microsoft.com/office/drawing/2014/main" id="{324866CE-2FA6-CFFB-0A6C-B7E7339E147A}"/>
              </a:ext>
            </a:extLst>
          </p:cNvPr>
          <p:cNvPicPr>
            <a:picLocks noGrp="1" noChangeAspect="1"/>
          </p:cNvPicPr>
          <p:nvPr>
            <p:ph idx="1"/>
          </p:nvPr>
        </p:nvPicPr>
        <p:blipFill>
          <a:blip r:embed="rId3"/>
          <a:stretch>
            <a:fillRect/>
          </a:stretch>
        </p:blipFill>
        <p:spPr>
          <a:xfrm>
            <a:off x="1182319" y="1868949"/>
            <a:ext cx="6285507" cy="4022725"/>
          </a:xfrm>
        </p:spPr>
      </p:pic>
    </p:spTree>
    <p:extLst>
      <p:ext uri="{BB962C8B-B14F-4D97-AF65-F5344CB8AC3E}">
        <p14:creationId xmlns:p14="http://schemas.microsoft.com/office/powerpoint/2010/main" val="2856988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Normality of the residuals </a:t>
            </a:r>
          </a:p>
        </p:txBody>
      </p:sp>
      <p:pic>
        <p:nvPicPr>
          <p:cNvPr id="5" name="Content Placeholder 4">
            <a:extLst>
              <a:ext uri="{FF2B5EF4-FFF2-40B4-BE49-F238E27FC236}">
                <a16:creationId xmlns:a16="http://schemas.microsoft.com/office/drawing/2014/main" id="{80EF5377-B140-897D-06EE-119858787E62}"/>
              </a:ext>
            </a:extLst>
          </p:cNvPr>
          <p:cNvPicPr>
            <a:picLocks noGrp="1" noChangeAspect="1"/>
          </p:cNvPicPr>
          <p:nvPr>
            <p:ph idx="1"/>
          </p:nvPr>
        </p:nvPicPr>
        <p:blipFill>
          <a:blip r:embed="rId3"/>
          <a:stretch>
            <a:fillRect/>
          </a:stretch>
        </p:blipFill>
        <p:spPr>
          <a:xfrm>
            <a:off x="1097280" y="1829958"/>
            <a:ext cx="6150299" cy="4022725"/>
          </a:xfrm>
        </p:spPr>
      </p:pic>
    </p:spTree>
    <p:extLst>
      <p:ext uri="{BB962C8B-B14F-4D97-AF65-F5344CB8AC3E}">
        <p14:creationId xmlns:p14="http://schemas.microsoft.com/office/powerpoint/2010/main" val="2956709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Statistical Inferences on the model</a:t>
            </a:r>
          </a:p>
        </p:txBody>
      </p:sp>
      <p:sp>
        <p:nvSpPr>
          <p:cNvPr id="3" name="Content Placeholder 2"/>
          <p:cNvSpPr>
            <a:spLocks noGrp="1"/>
          </p:cNvSpPr>
          <p:nvPr>
            <p:ph idx="1"/>
          </p:nvPr>
        </p:nvSpPr>
        <p:spPr/>
        <p:txBody>
          <a:bodyPr>
            <a:normAutofit fontScale="55000" lnSpcReduction="20000"/>
          </a:bodyPr>
          <a:lstStyle/>
          <a:p>
            <a:r>
              <a:rPr lang="en-US" dirty="0">
                <a:solidFill>
                  <a:schemeClr val="tx1"/>
                </a:solidFill>
                <a:latin typeface="Times New Roman" panose="02020603050405020304" pitchFamily="18" charset="0"/>
                <a:cs typeface="Times New Roman" panose="02020603050405020304" pitchFamily="18" charset="0"/>
              </a:rPr>
              <a:t>&gt; </a:t>
            </a:r>
            <a:r>
              <a:rPr lang="en-US" dirty="0" err="1">
                <a:solidFill>
                  <a:schemeClr val="tx1"/>
                </a:solidFill>
                <a:latin typeface="Times New Roman" panose="02020603050405020304" pitchFamily="18" charset="0"/>
                <a:cs typeface="Times New Roman" panose="02020603050405020304" pitchFamily="18" charset="0"/>
              </a:rPr>
              <a:t>anova</a:t>
            </a:r>
            <a:r>
              <a:rPr lang="en-US" dirty="0">
                <a:solidFill>
                  <a:schemeClr val="tx1"/>
                </a:solidFill>
                <a:latin typeface="Times New Roman" panose="02020603050405020304" pitchFamily="18" charset="0"/>
                <a:cs typeface="Times New Roman" panose="02020603050405020304" pitchFamily="18" charset="0"/>
              </a:rPr>
              <a:t>(model)</a:t>
            </a:r>
          </a:p>
          <a:p>
            <a:r>
              <a:rPr lang="en-US" dirty="0">
                <a:solidFill>
                  <a:schemeClr val="tx1"/>
                </a:solidFill>
                <a:latin typeface="Times New Roman" panose="02020603050405020304" pitchFamily="18" charset="0"/>
                <a:cs typeface="Times New Roman" panose="02020603050405020304" pitchFamily="18" charset="0"/>
              </a:rPr>
              <a:t>Analysis of Variance Table</a:t>
            </a:r>
          </a:p>
          <a:p>
            <a:r>
              <a:rPr lang="en-US" dirty="0">
                <a:solidFill>
                  <a:schemeClr val="tx1"/>
                </a:solidFill>
                <a:latin typeface="Times New Roman" panose="02020603050405020304" pitchFamily="18" charset="0"/>
                <a:cs typeface="Times New Roman" panose="02020603050405020304" pitchFamily="18" charset="0"/>
              </a:rPr>
              <a:t>Response: Temp Change</a:t>
            </a:r>
          </a:p>
          <a:p>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Df</a:t>
            </a:r>
            <a:r>
              <a:rPr lang="en-US" dirty="0">
                <a:solidFill>
                  <a:schemeClr val="tx1"/>
                </a:solidFill>
                <a:latin typeface="Times New Roman" panose="02020603050405020304" pitchFamily="18" charset="0"/>
                <a:cs typeface="Times New Roman" panose="02020603050405020304" pitchFamily="18" charset="0"/>
              </a:rPr>
              <a:t> Sum Sq Mean Sq F value    </a:t>
            </a:r>
            <a:r>
              <a:rPr lang="en-US" dirty="0" err="1">
                <a:solidFill>
                  <a:schemeClr val="tx1"/>
                </a:solidFill>
                <a:latin typeface="Times New Roman" panose="02020603050405020304" pitchFamily="18" charset="0"/>
                <a:cs typeface="Times New Roman" panose="02020603050405020304" pitchFamily="18" charset="0"/>
              </a:rPr>
              <a:t>Pr</a:t>
            </a:r>
            <a:r>
              <a:rPr lang="en-US" dirty="0">
                <a:solidFill>
                  <a:schemeClr val="tx1"/>
                </a:solidFill>
                <a:latin typeface="Times New Roman" panose="02020603050405020304" pitchFamily="18" charset="0"/>
                <a:cs typeface="Times New Roman" panose="02020603050405020304" pitchFamily="18" charset="0"/>
              </a:rPr>
              <a:t>(&gt;F)    </a:t>
            </a:r>
          </a:p>
          <a:p>
            <a:r>
              <a:rPr lang="en-US" dirty="0">
                <a:solidFill>
                  <a:schemeClr val="tx1"/>
                </a:solidFill>
                <a:latin typeface="Times New Roman" panose="02020603050405020304" pitchFamily="18" charset="0"/>
                <a:cs typeface="Times New Roman" panose="02020603050405020304" pitchFamily="18" charset="0"/>
              </a:rPr>
              <a:t>`Total Emissions`   1 8.8443  8.8443  522.31 &lt; 2.2e-16 ***</a:t>
            </a:r>
          </a:p>
          <a:p>
            <a:r>
              <a:rPr lang="en-US" dirty="0">
                <a:solidFill>
                  <a:schemeClr val="tx1"/>
                </a:solidFill>
                <a:latin typeface="Times New Roman" panose="02020603050405020304" pitchFamily="18" charset="0"/>
                <a:cs typeface="Times New Roman" panose="02020603050405020304" pitchFamily="18" charset="0"/>
              </a:rPr>
              <a:t>Residuals         129 2.1844  0.0169                      </a:t>
            </a:r>
          </a:p>
          <a:p>
            <a:r>
              <a:rPr lang="en-US" dirty="0">
                <a:solidFill>
                  <a:schemeClr val="tx1"/>
                </a:solidFill>
                <a:latin typeface="Times New Roman" panose="02020603050405020304" pitchFamily="18" charset="0"/>
                <a:cs typeface="Times New Roman" panose="02020603050405020304" pitchFamily="18" charset="0"/>
              </a:rPr>
              <a:t>---</a:t>
            </a:r>
          </a:p>
          <a:p>
            <a:r>
              <a:rPr lang="en-US" dirty="0" err="1">
                <a:solidFill>
                  <a:schemeClr val="tx1"/>
                </a:solidFill>
                <a:latin typeface="Times New Roman" panose="02020603050405020304" pitchFamily="18" charset="0"/>
                <a:cs typeface="Times New Roman" panose="02020603050405020304" pitchFamily="18" charset="0"/>
              </a:rPr>
              <a:t>Signif</a:t>
            </a:r>
            <a:r>
              <a:rPr lang="en-US" dirty="0">
                <a:solidFill>
                  <a:schemeClr val="tx1"/>
                </a:solidFill>
                <a:latin typeface="Times New Roman" panose="02020603050405020304" pitchFamily="18" charset="0"/>
                <a:cs typeface="Times New Roman" panose="02020603050405020304" pitchFamily="18" charset="0"/>
              </a:rPr>
              <a:t>. codes:  0 ‘***’ 0.001 ‘**’ 0.01 ‘*’ 0.05 ‘.’ 0.1 ‘ ’ 1</a:t>
            </a: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&gt; </a:t>
            </a:r>
            <a:r>
              <a:rPr lang="en-US" dirty="0" err="1">
                <a:solidFill>
                  <a:schemeClr val="tx1"/>
                </a:solidFill>
                <a:latin typeface="Times New Roman" panose="02020603050405020304" pitchFamily="18" charset="0"/>
                <a:cs typeface="Times New Roman" panose="02020603050405020304" pitchFamily="18" charset="0"/>
              </a:rPr>
              <a:t>confint</a:t>
            </a:r>
            <a:r>
              <a:rPr lang="en-US" dirty="0">
                <a:solidFill>
                  <a:schemeClr val="tx1"/>
                </a:solidFill>
                <a:latin typeface="Times New Roman" panose="02020603050405020304" pitchFamily="18" charset="0"/>
                <a:cs typeface="Times New Roman" panose="02020603050405020304" pitchFamily="18" charset="0"/>
              </a:rPr>
              <a:t>(model, level = 0.95)</a:t>
            </a:r>
          </a:p>
          <a:p>
            <a:r>
              <a:rPr lang="en-US" dirty="0">
                <a:solidFill>
                  <a:schemeClr val="tx1"/>
                </a:solidFill>
                <a:latin typeface="Times New Roman" panose="02020603050405020304" pitchFamily="18" charset="0"/>
                <a:cs typeface="Times New Roman" panose="02020603050405020304" pitchFamily="18" charset="0"/>
              </a:rPr>
              <a:t>                          2.5 %        97.5 %</a:t>
            </a:r>
          </a:p>
          <a:p>
            <a:r>
              <a:rPr lang="en-US" dirty="0">
                <a:solidFill>
                  <a:schemeClr val="tx1"/>
                </a:solidFill>
                <a:latin typeface="Times New Roman" panose="02020603050405020304" pitchFamily="18" charset="0"/>
                <a:cs typeface="Times New Roman" panose="02020603050405020304" pitchFamily="18" charset="0"/>
              </a:rPr>
              <a:t>(Intercept)       -3.293814e-01 -0.2629533781</a:t>
            </a:r>
          </a:p>
          <a:p>
            <a:r>
              <a:rPr lang="en-US" dirty="0">
                <a:solidFill>
                  <a:schemeClr val="tx1"/>
                </a:solidFill>
                <a:latin typeface="Times New Roman" panose="02020603050405020304" pitchFamily="18" charset="0"/>
                <a:cs typeface="Times New Roman" panose="02020603050405020304" pitchFamily="18" charset="0"/>
              </a:rPr>
              <a:t>`Total Emissions`  9.386763e-05  0.0001116606</a:t>
            </a:r>
          </a:p>
        </p:txBody>
      </p:sp>
    </p:spTree>
    <p:extLst>
      <p:ext uri="{BB962C8B-B14F-4D97-AF65-F5344CB8AC3E}">
        <p14:creationId xmlns:p14="http://schemas.microsoft.com/office/powerpoint/2010/main" val="3823258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A85AC-47B3-A362-9B77-44D2EE39E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083DE-0FC3-CC3A-DC10-0C1496B88746}"/>
              </a:ext>
            </a:extLst>
          </p:cNvPr>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Key findings</a:t>
            </a:r>
          </a:p>
        </p:txBody>
      </p:sp>
      <p:sp>
        <p:nvSpPr>
          <p:cNvPr id="3" name="Content Placeholder 2">
            <a:extLst>
              <a:ext uri="{FF2B5EF4-FFF2-40B4-BE49-F238E27FC236}">
                <a16:creationId xmlns:a16="http://schemas.microsoft.com/office/drawing/2014/main" id="{760A0DF7-71AE-0D80-AFCE-7CCC8D3596DC}"/>
              </a:ext>
            </a:extLst>
          </p:cNvPr>
          <p:cNvSpPr>
            <a:spLocks noGrp="1"/>
          </p:cNvSpPr>
          <p:nvPr>
            <p:ph idx="1"/>
          </p:nvPr>
        </p:nvSpPr>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The regression model is statistically significant (F(1,129) = 522.31, p &lt; .001).</a:t>
            </a:r>
          </a:p>
          <a:p>
            <a:r>
              <a:rPr lang="en-US" dirty="0">
                <a:solidFill>
                  <a:schemeClr val="tx1"/>
                </a:solidFill>
                <a:latin typeface="Times New Roman" panose="02020603050405020304" pitchFamily="18" charset="0"/>
                <a:cs typeface="Times New Roman" panose="02020603050405020304" pitchFamily="18" charset="0"/>
              </a:rPr>
              <a:t>Total CO₂ emissions significantly predict temperature change.</a:t>
            </a:r>
          </a:p>
          <a:p>
            <a:r>
              <a:rPr lang="en-US" dirty="0">
                <a:solidFill>
                  <a:schemeClr val="tx1"/>
                </a:solidFill>
                <a:latin typeface="Times New Roman" panose="02020603050405020304" pitchFamily="18" charset="0"/>
                <a:cs typeface="Times New Roman" panose="02020603050405020304" pitchFamily="18" charset="0"/>
              </a:rPr>
              <a:t>95% Confidence Interval for slope: [0.0000939, 0.0001117] (excludes 0).</a:t>
            </a:r>
          </a:p>
          <a:p>
            <a:r>
              <a:rPr lang="en-US" dirty="0">
                <a:solidFill>
                  <a:schemeClr val="tx1"/>
                </a:solidFill>
                <a:latin typeface="Times New Roman" panose="02020603050405020304" pitchFamily="18" charset="0"/>
                <a:cs typeface="Times New Roman" panose="02020603050405020304" pitchFamily="18" charset="0"/>
              </a:rPr>
              <a:t>Residual analysis showed:</a:t>
            </a:r>
          </a:p>
          <a:p>
            <a:pPr lvl="1"/>
            <a:r>
              <a:rPr lang="en-US" dirty="0">
                <a:solidFill>
                  <a:schemeClr val="tx1"/>
                </a:solidFill>
                <a:latin typeface="Times New Roman" panose="02020603050405020304" pitchFamily="18" charset="0"/>
                <a:cs typeface="Times New Roman" panose="02020603050405020304" pitchFamily="18" charset="0"/>
              </a:rPr>
              <a:t>No pattern in residuals vs. fitted values (homoscedasticity).</a:t>
            </a:r>
          </a:p>
          <a:p>
            <a:pPr lvl="1"/>
            <a:r>
              <a:rPr lang="en-US" dirty="0">
                <a:solidFill>
                  <a:schemeClr val="tx1"/>
                </a:solidFill>
                <a:latin typeface="Times New Roman" panose="02020603050405020304" pitchFamily="18" charset="0"/>
                <a:cs typeface="Times New Roman" panose="02020603050405020304" pitchFamily="18" charset="0"/>
              </a:rPr>
              <a:t>Approximate normality in Q-Q plot.</a:t>
            </a:r>
          </a:p>
          <a:p>
            <a:r>
              <a:rPr lang="en-US" dirty="0">
                <a:solidFill>
                  <a:schemeClr val="tx1"/>
                </a:solidFill>
                <a:latin typeface="Times New Roman" panose="02020603050405020304" pitchFamily="18" charset="0"/>
                <a:cs typeface="Times New Roman" panose="02020603050405020304" pitchFamily="18" charset="0"/>
              </a:rPr>
              <a:t>The model meets key assumptions and supports a positive linear relationship between emissions and global warming.</a:t>
            </a: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5038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The link to the location for the dataset</a:t>
            </a:r>
          </a:p>
          <a:p>
            <a:r>
              <a:rPr lang="en-US" dirty="0">
                <a:solidFill>
                  <a:schemeClr val="tx1"/>
                </a:solidFill>
                <a:latin typeface="Times New Roman" panose="02020603050405020304" pitchFamily="18" charset="0"/>
                <a:cs typeface="Times New Roman" panose="02020603050405020304" pitchFamily="18" charset="0"/>
                <a:hlinkClick r:id="rId3"/>
              </a:rPr>
              <a:t>https://data.giss.nasa.gov/gistemp/</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hlinkClick r:id="rId4"/>
              </a:rPr>
              <a:t>https://data.giss.nasa.gov/gistemp/tabledata_v3/GLB.Ts+dSST</a:t>
            </a:r>
            <a:r>
              <a:rPr lang="en-US">
                <a:solidFill>
                  <a:schemeClr val="tx1"/>
                </a:solidFill>
                <a:latin typeface="Times New Roman" panose="02020603050405020304" pitchFamily="18" charset="0"/>
                <a:cs typeface="Times New Roman" panose="02020603050405020304" pitchFamily="18" charset="0"/>
                <a:hlinkClick r:id="rId4"/>
              </a:rPr>
              <a:t>.txt</a:t>
            </a:r>
            <a:endParaRPr lang="en-US">
              <a:solidFill>
                <a:schemeClr val="tx1"/>
              </a:solidFill>
              <a:latin typeface="Times New Roman" panose="02020603050405020304" pitchFamily="18" charset="0"/>
              <a:cs typeface="Times New Roman" panose="02020603050405020304" pitchFamily="18" charset="0"/>
            </a:endParaRPr>
          </a:p>
          <a:p>
            <a:pPr marL="0" indent="0">
              <a:buNone/>
            </a:pPr>
            <a:endParaRPr lang="en-US" dirty="0">
              <a:solidFill>
                <a:schemeClr val="tx1"/>
              </a:solidFill>
              <a:latin typeface="Times New Roman" panose="02020603050405020304" pitchFamily="18" charset="0"/>
              <a:cs typeface="Times New Roman" panose="02020603050405020304" pitchFamily="18" charset="0"/>
            </a:endParaRPr>
          </a:p>
          <a:p>
            <a:endParaRPr lang="en-KE"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796465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1240</TotalTime>
  <Words>1441</Words>
  <Application>Microsoft Office PowerPoint</Application>
  <PresentationFormat>Widescreen</PresentationFormat>
  <Paragraphs>92</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Calibri Light</vt:lpstr>
      <vt:lpstr>Lucida Sans Unicode</vt:lpstr>
      <vt:lpstr>Times New Roman</vt:lpstr>
      <vt:lpstr>Retrospect</vt:lpstr>
      <vt:lpstr>CODING IN R - Global Warming Analysis Project</vt:lpstr>
      <vt:lpstr>Introduction</vt:lpstr>
      <vt:lpstr>Data </vt:lpstr>
      <vt:lpstr>Why the data was selected</vt:lpstr>
      <vt:lpstr>Scatterplot</vt:lpstr>
      <vt:lpstr>Simple linear regression</vt:lpstr>
      <vt:lpstr>Residual analysis </vt:lpstr>
      <vt:lpstr>Normality of the residuals </vt:lpstr>
      <vt:lpstr>Statistical Inferences on the model</vt:lpstr>
      <vt:lpstr>Key findings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Eubank, Jason</cp:lastModifiedBy>
  <cp:revision>50</cp:revision>
  <dcterms:created xsi:type="dcterms:W3CDTF">2023-04-20T11:52:58Z</dcterms:created>
  <dcterms:modified xsi:type="dcterms:W3CDTF">2025-11-17T15:36:32Z</dcterms:modified>
</cp:coreProperties>
</file>